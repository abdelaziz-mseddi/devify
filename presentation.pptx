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1.png" ContentType="image/png"/>
  <Override PartName="/ppt/media/image2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2175637-D3B3-4CBD-9E56-F4025B90131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3CD4B5-0096-44E1-87D1-133F39EB4CD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078CC4-0607-4817-B5ED-9908EA6056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25F49D-7AA6-4BD2-8E77-7BAEC5D1D4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207BCB-370D-4AF1-BC33-618CB6DA3B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8ACF0B-B5D5-45F9-B788-545C0D21D7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392D75-100D-4398-B260-65CF2BFA7E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A6DF67-0152-412F-9E42-C54B4ED417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6C5164-5F90-4E81-A91A-A766DCF8A1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A85A0D-D972-445A-B7A9-D46845FBE7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11480" y="640080"/>
            <a:ext cx="59432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Plateforme de validation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collaborative de Pull Requests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4115160" y="1828800"/>
            <a:ext cx="2285640" cy="411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115160" y="1828800"/>
            <a:ext cx="2285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Gamifiée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11480" y="32461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a8c8d8"/>
                </a:solidFill>
                <a:latin typeface="Calibri"/>
              </a:rPr>
              <a:t>Projet CSI – GL2/3 | INSAT | 2025/2026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11480" y="374904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8dde8"/>
                </a:solidFill>
                <a:latin typeface="Calibri"/>
              </a:rPr>
              <a:t>Raed Jani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11480" y="400500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8dde8"/>
                </a:solidFill>
                <a:latin typeface="Calibri"/>
              </a:rPr>
              <a:t>Adem Ayari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11480" y="42609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8dde8"/>
                </a:solidFill>
                <a:latin typeface="Calibri"/>
              </a:rPr>
              <a:t>Mohamed Amine Barkati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11480" y="45172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8dde8"/>
                </a:solidFill>
                <a:latin typeface="Calibri"/>
              </a:rPr>
              <a:t>AbdelAziz Mseddi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583680" y="457200"/>
            <a:ext cx="2285640" cy="2285640"/>
          </a:xfrm>
          <a:prstGeom prst="ellipse">
            <a:avLst/>
          </a:prstGeom>
          <a:solidFill>
            <a:srgbClr val="028090">
              <a:alpha val="15000"/>
            </a:srgbClr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7040880" y="914400"/>
            <a:ext cx="1371240" cy="1371240"/>
          </a:xfrm>
          <a:prstGeom prst="ellipse">
            <a:avLst/>
          </a:prstGeom>
          <a:solidFill>
            <a:srgbClr val="02c39a">
              <a:alpha val="30000"/>
            </a:srgbClr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7406640" y="1097280"/>
            <a:ext cx="822600" cy="82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Contexte &amp; Problème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365760" y="91440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b5f"/>
                </a:solidFill>
                <a:latin typeface="Calibri"/>
              </a:rPr>
              <a:t>La revue de code, une étape cruciale...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365760" y="1417320"/>
            <a:ext cx="41144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Répartition souvent inégale des revues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Certains développeurs surchargés, d'autres sous-sollicités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Qualité des livrables affectée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Manque de motivation à participer aux revues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5029200" y="914400"/>
            <a:ext cx="3748680" cy="1142640"/>
          </a:xfrm>
          <a:prstGeom prst="rect">
            <a:avLst/>
          </a:prstGeom>
          <a:solidFill>
            <a:srgbClr val="eef6f8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Image 0" descr="preencoded.png"/>
          <p:cNvPicPr/>
          <p:nvPr/>
        </p:nvPicPr>
        <p:blipFill>
          <a:blip r:embed="rId1"/>
          <a:stretch/>
        </p:blipFill>
        <p:spPr>
          <a:xfrm>
            <a:off x="5212080" y="123444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26" name="Text 5"/>
          <p:cNvSpPr/>
          <p:nvPr/>
        </p:nvSpPr>
        <p:spPr>
          <a:xfrm>
            <a:off x="5806440" y="107892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5f"/>
                </a:solidFill>
                <a:latin typeface="Calibri"/>
              </a:rPr>
              <a:t>Revue de code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5806440" y="144468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Essentielle au cycle de vie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5029200" y="2240280"/>
            <a:ext cx="3748680" cy="1142640"/>
          </a:xfrm>
          <a:prstGeom prst="rect">
            <a:avLst/>
          </a:prstGeom>
          <a:solidFill>
            <a:srgbClr val="fff4ed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Image 1" descr="preencoded.png"/>
          <p:cNvPicPr/>
          <p:nvPr/>
        </p:nvPicPr>
        <p:blipFill>
          <a:blip r:embed="rId2"/>
          <a:stretch/>
        </p:blipFill>
        <p:spPr>
          <a:xfrm>
            <a:off x="5212080" y="256032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0" name="Text 8"/>
          <p:cNvSpPr/>
          <p:nvPr/>
        </p:nvSpPr>
        <p:spPr>
          <a:xfrm>
            <a:off x="5806440" y="24048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5f"/>
                </a:solidFill>
                <a:latin typeface="Calibri"/>
              </a:rPr>
              <a:t>Équipes dev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5806440" y="277056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Charge de travail inégale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5029200" y="3566160"/>
            <a:ext cx="3748680" cy="114264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Image 2" descr="preencoded.png"/>
          <p:cNvPicPr/>
          <p:nvPr/>
        </p:nvPicPr>
        <p:blipFill>
          <a:blip r:embed="rId3"/>
          <a:stretch/>
        </p:blipFill>
        <p:spPr>
          <a:xfrm>
            <a:off x="5212080" y="38862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4" name="Text 11"/>
          <p:cNvSpPr/>
          <p:nvPr/>
        </p:nvSpPr>
        <p:spPr>
          <a:xfrm>
            <a:off x="5806440" y="373068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5f"/>
                </a:solidFill>
                <a:latin typeface="Calibri"/>
              </a:rPr>
              <a:t>Qualité &amp; Savoir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5806440" y="40964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Partage des connaissances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Solution &amp; Objectifs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365760" y="82296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1a2b5f"/>
                </a:solidFill>
                <a:latin typeface="Calibri"/>
              </a:rPr>
              <a:t>Un outil interne pour équipes de développement, centré sur les Pull Requests.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274320" y="1417320"/>
            <a:ext cx="42058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457200" y="1737360"/>
            <a:ext cx="548280" cy="548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Image 0" descr="preencoded.png"/>
          <p:cNvPicPr/>
          <p:nvPr/>
        </p:nvPicPr>
        <p:blipFill>
          <a:blip r:embed="rId1"/>
          <a:stretch/>
        </p:blipFill>
        <p:spPr>
          <a:xfrm>
            <a:off x="521280" y="18014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42" name="Text 5"/>
          <p:cNvSpPr/>
          <p:nvPr/>
        </p:nvSpPr>
        <p:spPr>
          <a:xfrm>
            <a:off x="1143000" y="160020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5f"/>
                </a:solidFill>
                <a:latin typeface="Calibri"/>
              </a:rPr>
              <a:t>Synchronisation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1143000" y="198432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Centralise les PRs depuis GitHub, GitLab et Bitbucket en temps réel.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4709160" y="1417320"/>
            <a:ext cx="42058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4892040" y="1737360"/>
            <a:ext cx="548280" cy="548280"/>
          </a:xfrm>
          <a:prstGeom prst="ellipse">
            <a:avLst/>
          </a:prstGeom>
          <a:solidFill>
            <a:srgbClr val="1a2b5f"/>
          </a:solidFill>
          <a:ln w="12700">
            <a:solidFill>
              <a:srgbClr val="1a2b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Image 1" descr="preencoded.png"/>
          <p:cNvPicPr/>
          <p:nvPr/>
        </p:nvPicPr>
        <p:blipFill>
          <a:blip r:embed="rId2"/>
          <a:stretch/>
        </p:blipFill>
        <p:spPr>
          <a:xfrm>
            <a:off x="4956120" y="18014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47" name="Text 9"/>
          <p:cNvSpPr/>
          <p:nvPr/>
        </p:nvSpPr>
        <p:spPr>
          <a:xfrm>
            <a:off x="5577840" y="160020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5f"/>
                </a:solidFill>
                <a:latin typeface="Calibri"/>
              </a:rPr>
              <a:t>Attribution auto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5577840" y="198432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Algorithme intelligent suggère les 5 meilleurs reviewers selon charge &amp; historique.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1"/>
          <p:cNvSpPr/>
          <p:nvPr/>
        </p:nvSpPr>
        <p:spPr>
          <a:xfrm>
            <a:off x="274320" y="3017520"/>
            <a:ext cx="42058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2"/>
          <p:cNvSpPr/>
          <p:nvPr/>
        </p:nvSpPr>
        <p:spPr>
          <a:xfrm>
            <a:off x="457200" y="3337560"/>
            <a:ext cx="548280" cy="548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" name="Image 2" descr="preencoded.png"/>
          <p:cNvPicPr/>
          <p:nvPr/>
        </p:nvPicPr>
        <p:blipFill>
          <a:blip r:embed="rId3"/>
          <a:stretch/>
        </p:blipFill>
        <p:spPr>
          <a:xfrm>
            <a:off x="521280" y="34016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52" name="Text 13"/>
          <p:cNvSpPr/>
          <p:nvPr/>
        </p:nvSpPr>
        <p:spPr>
          <a:xfrm>
            <a:off x="1143000" y="320040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5f"/>
                </a:solidFill>
                <a:latin typeface="Calibri"/>
              </a:rPr>
              <a:t>Répartition équitable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1143000" y="358452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Évite la surcharge en distribuant les revues de manière juste au sein de l'équipe.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4709160" y="3017520"/>
            <a:ext cx="4205880" cy="141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4892040" y="3337560"/>
            <a:ext cx="548280" cy="5482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" name="Image 3" descr="preencoded.png"/>
          <p:cNvPicPr/>
          <p:nvPr/>
        </p:nvPicPr>
        <p:blipFill>
          <a:blip r:embed="rId4"/>
          <a:stretch/>
        </p:blipFill>
        <p:spPr>
          <a:xfrm>
            <a:off x="4956120" y="34016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57" name="Text 17"/>
          <p:cNvSpPr/>
          <p:nvPr/>
        </p:nvSpPr>
        <p:spPr>
          <a:xfrm>
            <a:off x="5577840" y="320040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5f"/>
                </a:solidFill>
                <a:latin typeface="Calibri"/>
              </a:rPr>
              <a:t>Gamification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5577840" y="358452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Points, badges et classement pour motiver la participation aux revues.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Acteurs &amp; Cas d'utilisation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274320" y="804600"/>
            <a:ext cx="2788560" cy="406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274320" y="804600"/>
            <a:ext cx="2788560" cy="776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" name="Image 0" descr="preencoded.png"/>
          <p:cNvPicPr/>
          <p:nvPr/>
        </p:nvPicPr>
        <p:blipFill>
          <a:blip r:embed="rId1"/>
          <a:stretch/>
        </p:blipFill>
        <p:spPr>
          <a:xfrm>
            <a:off x="411480" y="91440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64" name="Text 4"/>
          <p:cNvSpPr/>
          <p:nvPr/>
        </p:nvSpPr>
        <p:spPr>
          <a:xfrm>
            <a:off x="960120" y="80460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Développeur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411480" y="1691640"/>
            <a:ext cx="25599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Créer un compte / S'authentifier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Consulter ses Pull Requests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Revendiquer une revue de PR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Consulter le tableau de bord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6"/>
          <p:cNvSpPr/>
          <p:nvPr/>
        </p:nvSpPr>
        <p:spPr>
          <a:xfrm>
            <a:off x="3227760" y="804600"/>
            <a:ext cx="2788560" cy="406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7"/>
          <p:cNvSpPr/>
          <p:nvPr/>
        </p:nvSpPr>
        <p:spPr>
          <a:xfrm>
            <a:off x="3227760" y="804600"/>
            <a:ext cx="2788560" cy="776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2"/>
          <a:stretch/>
        </p:blipFill>
        <p:spPr>
          <a:xfrm>
            <a:off x="3364920" y="91440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69" name="Text 8"/>
          <p:cNvSpPr/>
          <p:nvPr/>
        </p:nvSpPr>
        <p:spPr>
          <a:xfrm>
            <a:off x="3913560" y="80460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Reviewer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3364920" y="1691640"/>
            <a:ext cx="25599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Consulter les revues demandées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Accepter / Refuser une demande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Effectuer une revue de code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Approuver ou Rejeter une PR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6181200" y="804600"/>
            <a:ext cx="2788560" cy="406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6181200" y="804600"/>
            <a:ext cx="2788560" cy="776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" name="Image 2" descr="preencoded.png"/>
          <p:cNvPicPr/>
          <p:nvPr/>
        </p:nvPicPr>
        <p:blipFill>
          <a:blip r:embed="rId3"/>
          <a:stretch/>
        </p:blipFill>
        <p:spPr>
          <a:xfrm>
            <a:off x="6318360" y="91440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74" name="Text 12"/>
          <p:cNvSpPr/>
          <p:nvPr/>
        </p:nvSpPr>
        <p:spPr>
          <a:xfrm>
            <a:off x="6867000" y="804600"/>
            <a:ext cx="2011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Administrateur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6318360" y="1691640"/>
            <a:ext cx="25599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Gérer les profils utilisateurs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Modifier paramètres algorithme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Changer les rôles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Superviser l'activité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274320" y="4663440"/>
            <a:ext cx="8595000" cy="347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457200" y="46634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4748b"/>
                </a:solidFill>
                <a:latin typeface="Calibri"/>
              </a:rPr>
              <a:t>Dépôt externe (GitHub / GitLab / Bitbucket) : synchronisation PRs &amp; notification des décisions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Architecture structurelle — 4 couches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457200" y="868680"/>
            <a:ext cx="822924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457200" y="868680"/>
            <a:ext cx="109440" cy="776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640080" y="1005840"/>
            <a:ext cx="502560" cy="5025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0" descr="preencoded.png"/>
          <p:cNvPicPr/>
          <p:nvPr/>
        </p:nvPicPr>
        <p:blipFill>
          <a:blip r:embed="rId1"/>
          <a:stretch/>
        </p:blipFill>
        <p:spPr>
          <a:xfrm>
            <a:off x="694800" y="10515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84" name="Text 5"/>
          <p:cNvSpPr/>
          <p:nvPr/>
        </p:nvSpPr>
        <p:spPr>
          <a:xfrm>
            <a:off x="1325880" y="94176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5f"/>
                </a:solidFill>
                <a:latin typeface="Calibri"/>
              </a:rPr>
              <a:t>Interface (GUI)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1325880" y="1289160"/>
            <a:ext cx="7131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11 classes – LoginGUI, DashboardGUI, PullRequestGUI…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>
            <a:off x="4297680" y="1645920"/>
            <a:ext cx="360" cy="164520"/>
          </a:xfrm>
          <a:prstGeom prst="line">
            <a:avLst/>
          </a:prstGeom>
          <a:ln w="19050">
            <a:solidFill>
              <a:srgbClr val="cbd5e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457200" y="1874520"/>
            <a:ext cx="822924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>
            <a:off x="457200" y="1874520"/>
            <a:ext cx="109440" cy="776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640080" y="2011680"/>
            <a:ext cx="502560" cy="5025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Image 1" descr="preencoded.png"/>
          <p:cNvPicPr/>
          <p:nvPr/>
        </p:nvPicPr>
        <p:blipFill>
          <a:blip r:embed="rId2"/>
          <a:stretch/>
        </p:blipFill>
        <p:spPr>
          <a:xfrm>
            <a:off x="694800" y="20574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91" name="Text 11"/>
          <p:cNvSpPr/>
          <p:nvPr/>
        </p:nvSpPr>
        <p:spPr>
          <a:xfrm>
            <a:off x="1325880" y="194760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5f"/>
                </a:solidFill>
                <a:latin typeface="Calibri"/>
              </a:rPr>
              <a:t>Controller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1325880" y="2295000"/>
            <a:ext cx="7131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9 contrôleurs – Auth, PullRequest, Review, Attribution…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4297680" y="2651760"/>
            <a:ext cx="360" cy="164520"/>
          </a:xfrm>
          <a:prstGeom prst="line">
            <a:avLst/>
          </a:prstGeom>
          <a:ln w="19050">
            <a:solidFill>
              <a:srgbClr val="cbd5e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4"/>
          <p:cNvSpPr/>
          <p:nvPr/>
        </p:nvSpPr>
        <p:spPr>
          <a:xfrm>
            <a:off x="457200" y="2880360"/>
            <a:ext cx="822924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5"/>
          <p:cNvSpPr/>
          <p:nvPr/>
        </p:nvSpPr>
        <p:spPr>
          <a:xfrm>
            <a:off x="457200" y="2880360"/>
            <a:ext cx="109440" cy="776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6"/>
          <p:cNvSpPr/>
          <p:nvPr/>
        </p:nvSpPr>
        <p:spPr>
          <a:xfrm>
            <a:off x="640080" y="3017520"/>
            <a:ext cx="502560" cy="5025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7" name="Image 2" descr="preencoded.png"/>
          <p:cNvPicPr/>
          <p:nvPr/>
        </p:nvPicPr>
        <p:blipFill>
          <a:blip r:embed="rId3"/>
          <a:stretch/>
        </p:blipFill>
        <p:spPr>
          <a:xfrm>
            <a:off x="694800" y="30632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98" name="Text 17"/>
          <p:cNvSpPr/>
          <p:nvPr/>
        </p:nvSpPr>
        <p:spPr>
          <a:xfrm>
            <a:off x="1325880" y="295344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5f"/>
                </a:solidFill>
                <a:latin typeface="Calibri"/>
              </a:rPr>
              <a:t>Repository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8"/>
          <p:cNvSpPr/>
          <p:nvPr/>
        </p:nvSpPr>
        <p:spPr>
          <a:xfrm>
            <a:off x="1325880" y="3300840"/>
            <a:ext cx="7131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7 repositories – accès BD, aucune logique métier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9"/>
          <p:cNvSpPr/>
          <p:nvPr/>
        </p:nvSpPr>
        <p:spPr>
          <a:xfrm>
            <a:off x="4297680" y="3657600"/>
            <a:ext cx="360" cy="164520"/>
          </a:xfrm>
          <a:prstGeom prst="line">
            <a:avLst/>
          </a:prstGeom>
          <a:ln w="19050">
            <a:solidFill>
              <a:srgbClr val="cbd5e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20"/>
          <p:cNvSpPr/>
          <p:nvPr/>
        </p:nvSpPr>
        <p:spPr>
          <a:xfrm>
            <a:off x="457200" y="3886200"/>
            <a:ext cx="822924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21"/>
          <p:cNvSpPr/>
          <p:nvPr/>
        </p:nvSpPr>
        <p:spPr>
          <a:xfrm>
            <a:off x="457200" y="3886200"/>
            <a:ext cx="109440" cy="776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22"/>
          <p:cNvSpPr/>
          <p:nvPr/>
        </p:nvSpPr>
        <p:spPr>
          <a:xfrm>
            <a:off x="640080" y="4023360"/>
            <a:ext cx="502560" cy="5025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Image 3" descr="preencoded.png"/>
          <p:cNvPicPr/>
          <p:nvPr/>
        </p:nvPicPr>
        <p:blipFill>
          <a:blip r:embed="rId4"/>
          <a:stretch/>
        </p:blipFill>
        <p:spPr>
          <a:xfrm>
            <a:off x="694800" y="40690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05" name="Text 23"/>
          <p:cNvSpPr/>
          <p:nvPr/>
        </p:nvSpPr>
        <p:spPr>
          <a:xfrm>
            <a:off x="1325880" y="395928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5f"/>
                </a:solidFill>
                <a:latin typeface="Calibri"/>
              </a:rPr>
              <a:t>Entity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1325880" y="4306680"/>
            <a:ext cx="7131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6 entités – Account, PullRequest, Review, AlgorithmParams…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5"/>
          <p:cNvSpPr/>
          <p:nvPr/>
        </p:nvSpPr>
        <p:spPr>
          <a:xfrm>
            <a:off x="457200" y="4846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</a:rPr>
              <a:t>Interface → Controller → Repository → Entity   (séparation stricte des responsabilités)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Algorithme d'attribution des Reviewers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365760" y="804600"/>
            <a:ext cx="5120280" cy="1234080"/>
          </a:xfrm>
          <a:prstGeom prst="rect">
            <a:avLst/>
          </a:prstGeom>
          <a:solidFill>
            <a:srgbClr val="0f1f3d"/>
          </a:solidFill>
          <a:ln w="1905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502920" y="841320"/>
            <a:ext cx="4845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2c39a"/>
                </a:solidFill>
                <a:latin typeface="Consolas"/>
                <a:ea typeface="Consolas"/>
              </a:rPr>
              <a:t>score  =  (1/charge) × w₁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2c39a"/>
                </a:solidFill>
                <a:latin typeface="Consolas"/>
                <a:ea typeface="Consolas"/>
              </a:rPr>
              <a:t>           </a:t>
            </a:r>
            <a:r>
              <a:rPr b="1" lang="en-US" sz="1350" spc="-1" strike="noStrike">
                <a:solidFill>
                  <a:srgbClr val="02c39a"/>
                </a:solidFill>
                <a:latin typeface="Consolas"/>
                <a:ea typeface="Consolas"/>
              </a:rPr>
              <a:t>+ rating × w₂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2c39a"/>
                </a:solidFill>
                <a:latin typeface="Consolas"/>
                <a:ea typeface="Consolas"/>
              </a:rPr>
              <a:t>           </a:t>
            </a:r>
            <a:r>
              <a:rPr b="1" lang="en-US" sz="1350" spc="-1" strike="noStrike">
                <a:solidFill>
                  <a:srgbClr val="02c39a"/>
                </a:solidFill>
                <a:latin typeface="Consolas"/>
                <a:ea typeface="Consolas"/>
              </a:rPr>
              <a:t>+ points × w₃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2c39a"/>
                </a:solidFill>
                <a:latin typeface="Consolas"/>
                <a:ea typeface="Consolas"/>
              </a:rPr>
              <a:t>           </a:t>
            </a:r>
            <a:r>
              <a:rPr b="1" lang="en-US" sz="1350" spc="-1" strike="noStrike">
                <a:solidFill>
                  <a:srgbClr val="02c39a"/>
                </a:solidFill>
                <a:latin typeface="Consolas"/>
                <a:ea typeface="Consolas"/>
              </a:rPr>
              <a:t>+ nbrBadges × w₄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365760" y="21214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4748b"/>
                </a:solidFill>
                <a:latin typeface="Calibri"/>
              </a:rPr>
              <a:t>w₁…w₄ configurables par l'administrateur via AlgorithmParameters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5852160" y="804600"/>
            <a:ext cx="475200" cy="475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5852160" y="8046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6446520" y="841320"/>
            <a:ext cx="2468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5f"/>
                </a:solidFill>
                <a:latin typeface="Calibri"/>
              </a:rPr>
              <a:t>Récupérer les reviewers disponibles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8"/>
          <p:cNvSpPr/>
          <p:nvPr/>
        </p:nvSpPr>
        <p:spPr>
          <a:xfrm>
            <a:off x="6080760" y="1280160"/>
            <a:ext cx="360" cy="255960"/>
          </a:xfrm>
          <a:prstGeom prst="line">
            <a:avLst/>
          </a:prstGeom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5852160" y="1536120"/>
            <a:ext cx="475200" cy="475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5852160" y="15361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6446520" y="1572840"/>
            <a:ext cx="2468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5f"/>
                </a:solidFill>
                <a:latin typeface="Calibri"/>
              </a:rPr>
              <a:t>Calculer le score pondéré pour chacun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2"/>
          <p:cNvSpPr/>
          <p:nvPr/>
        </p:nvSpPr>
        <p:spPr>
          <a:xfrm>
            <a:off x="6080760" y="2011680"/>
            <a:ext cx="360" cy="255960"/>
          </a:xfrm>
          <a:prstGeom prst="line">
            <a:avLst/>
          </a:prstGeom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5852160" y="2267640"/>
            <a:ext cx="475200" cy="475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5852160" y="22676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5"/>
          <p:cNvSpPr/>
          <p:nvPr/>
        </p:nvSpPr>
        <p:spPr>
          <a:xfrm>
            <a:off x="6446520" y="2304360"/>
            <a:ext cx="2468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5f"/>
                </a:solidFill>
                <a:latin typeface="Calibri"/>
              </a:rPr>
              <a:t>Trier par score décroissant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6"/>
          <p:cNvSpPr/>
          <p:nvPr/>
        </p:nvSpPr>
        <p:spPr>
          <a:xfrm>
            <a:off x="6080760" y="2743200"/>
            <a:ext cx="360" cy="255960"/>
          </a:xfrm>
          <a:prstGeom prst="line">
            <a:avLst/>
          </a:prstGeom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7"/>
          <p:cNvSpPr/>
          <p:nvPr/>
        </p:nvSpPr>
        <p:spPr>
          <a:xfrm>
            <a:off x="5852160" y="2999160"/>
            <a:ext cx="475200" cy="475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8"/>
          <p:cNvSpPr/>
          <p:nvPr/>
        </p:nvSpPr>
        <p:spPr>
          <a:xfrm>
            <a:off x="5852160" y="29991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9"/>
          <p:cNvSpPr/>
          <p:nvPr/>
        </p:nvSpPr>
        <p:spPr>
          <a:xfrm>
            <a:off x="6446520" y="3035880"/>
            <a:ext cx="2468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5f"/>
                </a:solidFill>
                <a:latin typeface="Calibri"/>
              </a:rPr>
              <a:t>Retourner le Top 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0"/>
          <p:cNvSpPr/>
          <p:nvPr/>
        </p:nvSpPr>
        <p:spPr>
          <a:xfrm>
            <a:off x="365760" y="4434840"/>
            <a:ext cx="8412120" cy="502560"/>
          </a:xfrm>
          <a:prstGeom prst="rect">
            <a:avLst/>
          </a:prstGeom>
          <a:solidFill>
            <a:srgbClr val="eef6f8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1"/>
          <p:cNvSpPr/>
          <p:nvPr/>
        </p:nvSpPr>
        <p:spPr>
          <a:xfrm>
            <a:off x="548640" y="44348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1a2b5f"/>
                </a:solidFill>
                <a:latin typeface="Calibri"/>
              </a:rPr>
              <a:t>Cœur fonctionnel de la plateforme — méthode suggestReviewers() de AttributionController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Système de Gamification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365760" y="80460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1a2b5f"/>
                </a:solidFill>
                <a:latin typeface="Calibri"/>
              </a:rPr>
              <a:t>Motiver les développeurs à participer activement aux revues de code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3"/>
          <p:cNvSpPr/>
          <p:nvPr/>
        </p:nvSpPr>
        <p:spPr>
          <a:xfrm>
            <a:off x="320040" y="1298520"/>
            <a:ext cx="274284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1234440" y="1554480"/>
            <a:ext cx="914040" cy="914040"/>
          </a:xfrm>
          <a:prstGeom prst="ellipse">
            <a:avLst/>
          </a:prstGeom>
          <a:solidFill>
            <a:srgbClr val="fffbeb"/>
          </a:solidFill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1353240" y="167328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136" name="Text 5"/>
          <p:cNvSpPr/>
          <p:nvPr/>
        </p:nvSpPr>
        <p:spPr>
          <a:xfrm>
            <a:off x="457200" y="256032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b5f"/>
                </a:solidFill>
                <a:latin typeface="Calibri"/>
              </a:rPr>
              <a:t>Points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502920" y="2999160"/>
            <a:ext cx="24228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Calibri"/>
              </a:rPr>
              <a:t>Chaque revue effectuée rapporte des points. Approuver ou rejeter une PR en rapporte aussi.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7"/>
          <p:cNvSpPr/>
          <p:nvPr/>
        </p:nvSpPr>
        <p:spPr>
          <a:xfrm>
            <a:off x="3227760" y="1298520"/>
            <a:ext cx="274284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4142160" y="1554480"/>
            <a:ext cx="914040" cy="914040"/>
          </a:xfrm>
          <a:prstGeom prst="ellipse">
            <a:avLst/>
          </a:prstGeom>
          <a:solidFill>
            <a:srgbClr val="f5f3ff"/>
          </a:solidFill>
          <a:ln w="254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Image 1" descr="preencoded.png"/>
          <p:cNvPicPr/>
          <p:nvPr/>
        </p:nvPicPr>
        <p:blipFill>
          <a:blip r:embed="rId2"/>
          <a:stretch/>
        </p:blipFill>
        <p:spPr>
          <a:xfrm>
            <a:off x="4260960" y="167328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141" name="Text 9"/>
          <p:cNvSpPr/>
          <p:nvPr/>
        </p:nvSpPr>
        <p:spPr>
          <a:xfrm>
            <a:off x="3364920" y="256032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b5f"/>
                </a:solidFill>
                <a:latin typeface="Calibri"/>
              </a:rPr>
              <a:t>Badges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3410640" y="2999160"/>
            <a:ext cx="24228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Calibri"/>
              </a:rPr>
              <a:t>Des badges sont débloqués selon les performances et le nombre de revues réalisées.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1"/>
          <p:cNvSpPr/>
          <p:nvPr/>
        </p:nvSpPr>
        <p:spPr>
          <a:xfrm>
            <a:off x="6135480" y="1298520"/>
            <a:ext cx="274284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2"/>
          <p:cNvSpPr/>
          <p:nvPr/>
        </p:nvSpPr>
        <p:spPr>
          <a:xfrm>
            <a:off x="7049880" y="1554480"/>
            <a:ext cx="914040" cy="914040"/>
          </a:xfrm>
          <a:prstGeom prst="ellipse">
            <a:avLst/>
          </a:prstGeom>
          <a:solidFill>
            <a:srgbClr val="ecfdf5"/>
          </a:solidFill>
          <a:ln w="254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Image 2" descr="preencoded.png"/>
          <p:cNvPicPr/>
          <p:nvPr/>
        </p:nvPicPr>
        <p:blipFill>
          <a:blip r:embed="rId3"/>
          <a:stretch/>
        </p:blipFill>
        <p:spPr>
          <a:xfrm>
            <a:off x="7169040" y="1673280"/>
            <a:ext cx="658080" cy="658080"/>
          </a:xfrm>
          <a:prstGeom prst="rect">
            <a:avLst/>
          </a:prstGeom>
          <a:ln w="0">
            <a:noFill/>
          </a:ln>
        </p:spPr>
      </p:pic>
      <p:sp>
        <p:nvSpPr>
          <p:cNvPr id="146" name="Text 13"/>
          <p:cNvSpPr/>
          <p:nvPr/>
        </p:nvSpPr>
        <p:spPr>
          <a:xfrm>
            <a:off x="6272640" y="256032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b5f"/>
                </a:solidFill>
                <a:latin typeface="Calibri"/>
              </a:rPr>
              <a:t>Rating du Reviewer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6318360" y="2999160"/>
            <a:ext cx="24228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Calibri"/>
              </a:rPr>
              <a:t>Un score de qualité évolue avec les évaluations reçues et impacte l'algorithme d'attribution.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365760" y="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Architecture technique — Déploiement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274320" y="914400"/>
            <a:ext cx="2651400" cy="1691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274320" y="914400"/>
            <a:ext cx="2651400" cy="502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2" name="Image 0" descr="preencoded.png"/>
          <p:cNvPicPr/>
          <p:nvPr/>
        </p:nvPicPr>
        <p:blipFill>
          <a:blip r:embed="rId1"/>
          <a:stretch/>
        </p:blipFill>
        <p:spPr>
          <a:xfrm>
            <a:off x="365760" y="9784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53" name="Text 4"/>
          <p:cNvSpPr/>
          <p:nvPr/>
        </p:nvSpPr>
        <p:spPr>
          <a:xfrm>
            <a:off x="777240" y="914400"/>
            <a:ext cx="208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Client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411480" y="148140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Navigateur / Desktop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Couche GUI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3246120" y="914400"/>
            <a:ext cx="2651400" cy="1691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3246120" y="914400"/>
            <a:ext cx="2651400" cy="502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7" name="Image 1" descr="preencoded.png"/>
          <p:cNvPicPr/>
          <p:nvPr/>
        </p:nvPicPr>
        <p:blipFill>
          <a:blip r:embed="rId2"/>
          <a:stretch/>
        </p:blipFill>
        <p:spPr>
          <a:xfrm>
            <a:off x="3337560" y="9784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58" name="Text 8"/>
          <p:cNvSpPr/>
          <p:nvPr/>
        </p:nvSpPr>
        <p:spPr>
          <a:xfrm>
            <a:off x="3749040" y="914400"/>
            <a:ext cx="208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Serveur d'application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3383280" y="148140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Controller + Repository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+ Entity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0"/>
          <p:cNvSpPr/>
          <p:nvPr/>
        </p:nvSpPr>
        <p:spPr>
          <a:xfrm>
            <a:off x="6217920" y="914400"/>
            <a:ext cx="2651400" cy="1691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6217920" y="914400"/>
            <a:ext cx="2651400" cy="502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2" name="Image 2" descr="preencoded.png"/>
          <p:cNvPicPr/>
          <p:nvPr/>
        </p:nvPicPr>
        <p:blipFill>
          <a:blip r:embed="rId3"/>
          <a:stretch/>
        </p:blipFill>
        <p:spPr>
          <a:xfrm>
            <a:off x="6309360" y="9784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63" name="Text 12"/>
          <p:cNvSpPr/>
          <p:nvPr/>
        </p:nvSpPr>
        <p:spPr>
          <a:xfrm>
            <a:off x="6720840" y="914400"/>
            <a:ext cx="208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Base de données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6355080" y="148140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Tables : Account, PR,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Review, Algorithm…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>
            <a:off x="3246120" y="2926080"/>
            <a:ext cx="2651400" cy="1691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3246120" y="2926080"/>
            <a:ext cx="2651400" cy="502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7" name="Image 3" descr="preencoded.png"/>
          <p:cNvPicPr/>
          <p:nvPr/>
        </p:nvPicPr>
        <p:blipFill>
          <a:blip r:embed="rId4"/>
          <a:stretch/>
        </p:blipFill>
        <p:spPr>
          <a:xfrm>
            <a:off x="3337560" y="29901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68" name="Text 16"/>
          <p:cNvSpPr/>
          <p:nvPr/>
        </p:nvSpPr>
        <p:spPr>
          <a:xfrm>
            <a:off x="3749040" y="2926080"/>
            <a:ext cx="208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Dépôts externes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7"/>
          <p:cNvSpPr/>
          <p:nvPr/>
        </p:nvSpPr>
        <p:spPr>
          <a:xfrm>
            <a:off x="3383280" y="349308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GitHub / GitLab / Bitbucket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REST API + OAuth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8"/>
          <p:cNvSpPr/>
          <p:nvPr/>
        </p:nvSpPr>
        <p:spPr>
          <a:xfrm>
            <a:off x="6217920" y="2926080"/>
            <a:ext cx="2651400" cy="1691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9"/>
          <p:cNvSpPr/>
          <p:nvPr/>
        </p:nvSpPr>
        <p:spPr>
          <a:xfrm>
            <a:off x="6217920" y="2926080"/>
            <a:ext cx="2651400" cy="502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2" name="Image 4" descr="preencoded.png"/>
          <p:cNvPicPr/>
          <p:nvPr/>
        </p:nvPicPr>
        <p:blipFill>
          <a:blip r:embed="rId5"/>
          <a:stretch/>
        </p:blipFill>
        <p:spPr>
          <a:xfrm>
            <a:off x="6309360" y="29901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73" name="Text 20"/>
          <p:cNvSpPr/>
          <p:nvPr/>
        </p:nvSpPr>
        <p:spPr>
          <a:xfrm>
            <a:off x="6720840" y="2926080"/>
            <a:ext cx="208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Email Provider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6355080" y="349308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Notifications reviewers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et propriétaires PR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2"/>
          <p:cNvSpPr/>
          <p:nvPr/>
        </p:nvSpPr>
        <p:spPr>
          <a:xfrm>
            <a:off x="2926080" y="1764720"/>
            <a:ext cx="320040" cy="360"/>
          </a:xfrm>
          <a:prstGeom prst="line">
            <a:avLst/>
          </a:prstGeom>
          <a:ln w="19050">
            <a:solidFill>
              <a:srgbClr val="02809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3"/>
          <p:cNvSpPr/>
          <p:nvPr/>
        </p:nvSpPr>
        <p:spPr>
          <a:xfrm>
            <a:off x="2944440" y="15361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28090"/>
                </a:solidFill>
                <a:latin typeface="Calibri"/>
              </a:rPr>
              <a:t>HTTPS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4"/>
          <p:cNvSpPr/>
          <p:nvPr/>
        </p:nvSpPr>
        <p:spPr>
          <a:xfrm>
            <a:off x="5897880" y="1764720"/>
            <a:ext cx="320040" cy="360"/>
          </a:xfrm>
          <a:prstGeom prst="line">
            <a:avLst/>
          </a:prstGeom>
          <a:ln w="19050">
            <a:solidFill>
              <a:srgbClr val="02809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5"/>
          <p:cNvSpPr/>
          <p:nvPr/>
        </p:nvSpPr>
        <p:spPr>
          <a:xfrm>
            <a:off x="5788080" y="15361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28090"/>
                </a:solidFill>
                <a:latin typeface="Calibri"/>
              </a:rPr>
              <a:t>SQL/ORM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6"/>
          <p:cNvSpPr/>
          <p:nvPr/>
        </p:nvSpPr>
        <p:spPr>
          <a:xfrm>
            <a:off x="4572000" y="2606040"/>
            <a:ext cx="360" cy="320040"/>
          </a:xfrm>
          <a:prstGeom prst="line">
            <a:avLst/>
          </a:prstGeom>
          <a:ln w="19050">
            <a:solidFill>
              <a:srgbClr val="02809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7"/>
          <p:cNvSpPr/>
          <p:nvPr/>
        </p:nvSpPr>
        <p:spPr>
          <a:xfrm>
            <a:off x="4645080" y="274320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28090"/>
                </a:solidFill>
                <a:latin typeface="Calibri"/>
              </a:rPr>
              <a:t>HTTPS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8"/>
          <p:cNvSpPr/>
          <p:nvPr/>
        </p:nvSpPr>
        <p:spPr>
          <a:xfrm>
            <a:off x="7086600" y="2606040"/>
            <a:ext cx="360" cy="320040"/>
          </a:xfrm>
          <a:prstGeom prst="line">
            <a:avLst/>
          </a:prstGeom>
          <a:ln w="19050">
            <a:solidFill>
              <a:srgbClr val="02809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9"/>
          <p:cNvSpPr/>
          <p:nvPr/>
        </p:nvSpPr>
        <p:spPr>
          <a:xfrm>
            <a:off x="7159680" y="274320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28090"/>
                </a:solidFill>
                <a:latin typeface="Calibri"/>
              </a:rPr>
              <a:t>SMTP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1148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Ce que la plateforme apporte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5" name="Image 0" descr="preencoded.png"/>
          <p:cNvPicPr/>
          <p:nvPr/>
        </p:nvPicPr>
        <p:blipFill>
          <a:blip r:embed="rId1"/>
          <a:stretch/>
        </p:blipFill>
        <p:spPr>
          <a:xfrm>
            <a:off x="502920" y="12801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86" name="Text 2"/>
          <p:cNvSpPr/>
          <p:nvPr/>
        </p:nvSpPr>
        <p:spPr>
          <a:xfrm>
            <a:off x="1051560" y="1225440"/>
            <a:ext cx="7497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bd5e8"/>
                </a:solidFill>
                <a:latin typeface="Calibri"/>
              </a:rPr>
              <a:t>Synchronisation automatique des PRs depuis GitHub, GitLab, Bitbucket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7" name="Image 1" descr="preencoded.png"/>
          <p:cNvPicPr/>
          <p:nvPr/>
        </p:nvPicPr>
        <p:blipFill>
          <a:blip r:embed="rId2"/>
          <a:stretch/>
        </p:blipFill>
        <p:spPr>
          <a:xfrm>
            <a:off x="502920" y="20300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88" name="Text 3"/>
          <p:cNvSpPr/>
          <p:nvPr/>
        </p:nvSpPr>
        <p:spPr>
          <a:xfrm>
            <a:off x="1051560" y="1974960"/>
            <a:ext cx="7497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bd5e8"/>
                </a:solidFill>
                <a:latin typeface="Calibri"/>
              </a:rPr>
              <a:t>Algorithme d'attribution intelligent et configurable par l'admin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9" name="Image 2" descr="preencoded.png"/>
          <p:cNvPicPr/>
          <p:nvPr/>
        </p:nvPicPr>
        <p:blipFill>
          <a:blip r:embed="rId3"/>
          <a:stretch/>
        </p:blipFill>
        <p:spPr>
          <a:xfrm>
            <a:off x="502920" y="27799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90" name="Text 4"/>
          <p:cNvSpPr/>
          <p:nvPr/>
        </p:nvSpPr>
        <p:spPr>
          <a:xfrm>
            <a:off x="1051560" y="2724840"/>
            <a:ext cx="7497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bd5e8"/>
                </a:solidFill>
                <a:latin typeface="Calibri"/>
              </a:rPr>
              <a:t>Répartition équitable de la charge de revue au sein de l'équipe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1" name="Image 3" descr="preencoded.png"/>
          <p:cNvPicPr/>
          <p:nvPr/>
        </p:nvPicPr>
        <p:blipFill>
          <a:blip r:embed="rId4"/>
          <a:stretch/>
        </p:blipFill>
        <p:spPr>
          <a:xfrm>
            <a:off x="502920" y="35294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92" name="Text 5"/>
          <p:cNvSpPr/>
          <p:nvPr/>
        </p:nvSpPr>
        <p:spPr>
          <a:xfrm>
            <a:off x="1051560" y="3474720"/>
            <a:ext cx="7497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bd5e8"/>
                </a:solidFill>
                <a:latin typeface="Calibri"/>
              </a:rPr>
              <a:t>Gamification : points, badges, rating pour stimuler l'engagement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3" name="Image 4" descr="preencoded.png"/>
          <p:cNvPicPr/>
          <p:nvPr/>
        </p:nvPicPr>
        <p:blipFill>
          <a:blip r:embed="rId5"/>
          <a:stretch/>
        </p:blipFill>
        <p:spPr>
          <a:xfrm>
            <a:off x="502920" y="42793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94" name="Text 6"/>
          <p:cNvSpPr/>
          <p:nvPr/>
        </p:nvSpPr>
        <p:spPr>
          <a:xfrm>
            <a:off x="1051560" y="4224600"/>
            <a:ext cx="7497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bd5e8"/>
                </a:solidFill>
                <a:latin typeface="Calibri"/>
              </a:rPr>
              <a:t>Notifications email aux reviewers et propriétaires de PRs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7"/>
          <p:cNvSpPr/>
          <p:nvPr/>
        </p:nvSpPr>
        <p:spPr>
          <a:xfrm>
            <a:off x="502920" y="4800600"/>
            <a:ext cx="8229600" cy="360"/>
          </a:xfrm>
          <a:prstGeom prst="line">
            <a:avLst/>
          </a:prstGeom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50292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07894"/>
                </a:solidFill>
                <a:latin typeface="Calibri"/>
              </a:rPr>
              <a:t>Projet CSI | INSAT GL2/3 | 2025–2026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2026-05-05T00:07:06Z</dcterms:created>
  <dc:creator>PptxGenJS</dc:creator>
  <dc:description/>
  <dc:language>en-US</dc:language>
  <cp:lastModifiedBy/>
  <dcterms:modified xsi:type="dcterms:W3CDTF">2026-05-05T02:19:54Z</dcterms:modified>
  <cp:revision>2</cp:revision>
  <dc:subject>PptxGenJS Presentation</dc:subject>
  <dc:title>Plateforme de validation collaborative de pull requests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